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702" y="9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8012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566928" cy="566928"/>
          </a:xfrm>
          <a:prstGeom prst="ellipse">
            <a:avLst/>
          </a:prstGeom>
          <a:solidFill>
            <a:srgbClr val="C04A3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51" y="719999"/>
            <a:ext cx="260787" cy="2607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25880" y="640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FRAUD DETECTION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Aggregation</a:t>
            </a:r>
            <a:endParaRPr lang="en-US" sz="3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Low Homophily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58368" y="29077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58368" y="36118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874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Alessandro Nese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58368" y="39959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874520" y="399592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 ·  MSc Computer Science, Sapienza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58368" y="43799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DATE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874520" y="43799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June 2026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367528" y="1069848"/>
            <a:ext cx="3575304" cy="3122747"/>
          </a:xfrm>
          <a:prstGeom prst="roundRect">
            <a:avLst>
              <a:gd name="adj" fmla="val 3514"/>
            </a:avLst>
          </a:prstGeom>
          <a:solidFill>
            <a:srgbClr val="FBFAF7"/>
          </a:solidFill>
          <a:ln w="9525">
            <a:solidFill>
              <a:srgbClr val="D8D5C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4" name="Image 1" descr="Low-homophily ego network: a fraud target surrounded mostly by benign neighbo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234440"/>
            <a:ext cx="3246120" cy="279356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67528" y="4229171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node v is fraudulent, yet most of its neighbors are benign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MOTIVATION &amp; AIM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fraud detection breaks standard GNNs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66928" cy="566928"/>
          </a:xfrm>
          <a:prstGeom prst="ellipse">
            <a:avLst/>
          </a:prstGeom>
          <a:solidFill>
            <a:srgbClr val="F6E8E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11" y="1478951"/>
            <a:ext cx="260787" cy="2607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1289304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Fraudsters camouflage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298448" y="1618488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fraud node connects mostly to benign nodes, so its neighborhood looks legitimate: the graph is heterophilic (low homophily).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624328"/>
            <a:ext cx="566928" cy="566928"/>
          </a:xfrm>
          <a:prstGeom prst="ellipse">
            <a:avLst/>
          </a:prstGeom>
          <a:solidFill>
            <a:srgbClr val="ECEAE3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711" y="2777399"/>
            <a:ext cx="260787" cy="26078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98448" y="25877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Smoothing hurts here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298448" y="2916936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Message-passing GNNs average neighbors, implicitly assuming they share the target's label. Under heterophily this dilutes the fraud signal into the benign majority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02920" y="3913632"/>
            <a:ext cx="4206240" cy="987552"/>
          </a:xfrm>
          <a:prstGeom prst="roundRect">
            <a:avLst>
              <a:gd name="adj" fmla="val 8333"/>
            </a:avLst>
          </a:prstGeom>
          <a:solidFill>
            <a:srgbClr val="E9F0F1"/>
          </a:solidFill>
          <a:ln w="9525">
            <a:solidFill>
              <a:srgbClr val="D8D5C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9"/>
          <p:cNvSpPr/>
          <p:nvPr/>
        </p:nvSpPr>
        <p:spPr>
          <a:xfrm>
            <a:off x="713232" y="4114800"/>
            <a:ext cx="548640" cy="548640"/>
          </a:xfrm>
          <a:prstGeom prst="ellipse">
            <a:avLst/>
          </a:prstGeom>
          <a:solidFill>
            <a:srgbClr val="2F6E8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5" y="4262933"/>
            <a:ext cx="252374" cy="25237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986784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kern="0" spc="100" dirty="0">
                <a:solidFill>
                  <a:srgbClr val="2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</a:t>
            </a:r>
            <a:r>
              <a:rPr lang="en-US" sz="115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GAGA and quantify how its group aggregation and learnable encodings each contribute Amazon and </a:t>
            </a:r>
            <a:r>
              <a:rPr lang="en-US" sz="1150" dirty="0" err="1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YelpChi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892040" y="1234440"/>
            <a:ext cx="3886200" cy="3382650"/>
          </a:xfrm>
          <a:prstGeom prst="roundRect">
            <a:avLst>
              <a:gd name="adj" fmla="val 2433"/>
            </a:avLst>
          </a:prstGeom>
          <a:solidFill>
            <a:srgbClr val="FBFAF7"/>
          </a:solidFill>
          <a:ln w="9525">
            <a:solidFill>
              <a:srgbClr val="D8D5C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7" name="Image 3" descr="Low-homophily ego network illustrati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1371600"/>
            <a:ext cx="3611880" cy="310833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892040" y="4626234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GAGA: group aggregation + a Transformer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8138160" cy="713232"/>
          </a:xfrm>
          <a:prstGeom prst="roundRect">
            <a:avLst>
              <a:gd name="adj" fmla="val 11538"/>
            </a:avLst>
          </a:prstGeom>
          <a:solidFill>
            <a:srgbClr val="F6E8E5"/>
          </a:solidFill>
          <a:ln w="9525">
            <a:solidFill>
              <a:srgbClr val="D8D5C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457200" cy="457200"/>
          </a:xfrm>
          <a:prstGeom prst="ellipse">
            <a:avLst/>
          </a:prstGeom>
          <a:solidFill>
            <a:srgbClr val="C04A3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1540764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335024"/>
            <a:ext cx="7223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4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  </a:t>
            </a:r>
            <a:r>
              <a:rPr lang="en-US" sz="120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averaging all neighbors into one vector, group them by label (benign / fraud / masked) and let a Transformer re-weight the groups, so the fraud signal is never smoothed away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212848"/>
            <a:ext cx="4687645" cy="2606040"/>
          </a:xfrm>
          <a:prstGeom prst="roundRect">
            <a:avLst>
              <a:gd name="adj" fmla="val 3158"/>
            </a:avLst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noFill/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6"/>
          <p:cNvSpPr/>
          <p:nvPr/>
        </p:nvSpPr>
        <p:spPr>
          <a:xfrm>
            <a:off x="502920" y="353415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PLACEHOLDER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3790188"/>
            <a:ext cx="324612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5354955" y="2212848"/>
            <a:ext cx="365760" cy="365760"/>
          </a:xfrm>
          <a:prstGeom prst="ellipse">
            <a:avLst/>
          </a:prstGeom>
          <a:solidFill>
            <a:srgbClr val="2F6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9"/>
          <p:cNvSpPr/>
          <p:nvPr/>
        </p:nvSpPr>
        <p:spPr>
          <a:xfrm>
            <a:off x="5354955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857875" y="2176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Aggregation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857875" y="2427732"/>
            <a:ext cx="278320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neighbors per label group, per hop &amp; relation — weight-free preprocessing.</a:t>
            </a:r>
            <a:endParaRPr lang="en-US" sz="980" dirty="0"/>
          </a:p>
        </p:txBody>
      </p:sp>
      <p:sp>
        <p:nvSpPr>
          <p:cNvPr id="16" name="Shape 12"/>
          <p:cNvSpPr/>
          <p:nvPr/>
        </p:nvSpPr>
        <p:spPr>
          <a:xfrm>
            <a:off x="5354955" y="2738628"/>
            <a:ext cx="365760" cy="365760"/>
          </a:xfrm>
          <a:prstGeom prst="ellipse">
            <a:avLst/>
          </a:prstGeom>
          <a:solidFill>
            <a:srgbClr val="2F6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3"/>
          <p:cNvSpPr/>
          <p:nvPr/>
        </p:nvSpPr>
        <p:spPr>
          <a:xfrm>
            <a:off x="5354955" y="27386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857875" y="27020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Projection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857875" y="2953512"/>
            <a:ext cx="278320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each group vector to hidden size dH.</a:t>
            </a:r>
            <a:endParaRPr lang="en-US" sz="980" dirty="0"/>
          </a:p>
        </p:txBody>
      </p:sp>
      <p:sp>
        <p:nvSpPr>
          <p:cNvPr id="20" name="Shape 16"/>
          <p:cNvSpPr/>
          <p:nvPr/>
        </p:nvSpPr>
        <p:spPr>
          <a:xfrm>
            <a:off x="5354955" y="3264408"/>
            <a:ext cx="365760" cy="365760"/>
          </a:xfrm>
          <a:prstGeom prst="ellipse">
            <a:avLst/>
          </a:prstGeom>
          <a:solidFill>
            <a:srgbClr val="2F6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7"/>
          <p:cNvSpPr/>
          <p:nvPr/>
        </p:nvSpPr>
        <p:spPr>
          <a:xfrm>
            <a:off x="5354955" y="3264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857875" y="3227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Learnable Encodings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857875" y="3479292"/>
            <a:ext cx="278320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hop, relation &amp; group (label) stamps: Xin = Xs+Xh+Xr+Xg.</a:t>
            </a:r>
            <a:endParaRPr lang="en-US" sz="980" dirty="0"/>
          </a:p>
        </p:txBody>
      </p:sp>
      <p:sp>
        <p:nvSpPr>
          <p:cNvPr id="24" name="Shape 20"/>
          <p:cNvSpPr/>
          <p:nvPr/>
        </p:nvSpPr>
        <p:spPr>
          <a:xfrm>
            <a:off x="5354955" y="3790188"/>
            <a:ext cx="365760" cy="365760"/>
          </a:xfrm>
          <a:prstGeom prst="ellipse">
            <a:avLst/>
          </a:prstGeom>
          <a:solidFill>
            <a:srgbClr val="2F6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21"/>
          <p:cNvSpPr/>
          <p:nvPr/>
        </p:nvSpPr>
        <p:spPr>
          <a:xfrm>
            <a:off x="5354955" y="37901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5857875" y="37536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Encoder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5857875" y="4005072"/>
            <a:ext cx="278320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attention re-weights the group vectors.</a:t>
            </a:r>
            <a:endParaRPr lang="en-US" sz="980" dirty="0"/>
          </a:p>
        </p:txBody>
      </p:sp>
      <p:sp>
        <p:nvSpPr>
          <p:cNvPr id="28" name="Shape 24"/>
          <p:cNvSpPr/>
          <p:nvPr/>
        </p:nvSpPr>
        <p:spPr>
          <a:xfrm>
            <a:off x="5354955" y="4315968"/>
            <a:ext cx="365760" cy="365760"/>
          </a:xfrm>
          <a:prstGeom prst="ellipse">
            <a:avLst/>
          </a:prstGeom>
          <a:solidFill>
            <a:srgbClr val="2F6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Text 25"/>
          <p:cNvSpPr/>
          <p:nvPr/>
        </p:nvSpPr>
        <p:spPr>
          <a:xfrm>
            <a:off x="5354955" y="4315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857875" y="42793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Inter-Agg. + MLP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5857875" y="4530852"/>
            <a:ext cx="278320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relations → sigmoid → fraud probability.</a:t>
            </a:r>
            <a:endParaRPr lang="en-US" sz="9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IMPLEMENTATION &amp; EXPERIMENTS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Datasets &amp; what I evaluated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3886200" cy="1097280"/>
          </a:xfrm>
          <a:prstGeom prst="roundRect">
            <a:avLst>
              <a:gd name="adj" fmla="val 7500"/>
            </a:avLst>
          </a:prstGeom>
          <a:solidFill>
            <a:srgbClr val="FBFAF7"/>
          </a:solidFill>
          <a:ln w="9525">
            <a:solidFill>
              <a:srgbClr val="D8D5C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85800" y="1371600"/>
            <a:ext cx="457200" cy="457200"/>
          </a:xfrm>
          <a:prstGeom prst="ellipse">
            <a:avLst/>
          </a:prstGeom>
          <a:solidFill>
            <a:srgbClr val="2F6E8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1495044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371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04088" y="184708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11,944 nodes  ·  3 relations  ·  imbalance 13.5  ·  homophily φ 0.05–0.17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54880" y="1207008"/>
            <a:ext cx="3886200" cy="1097280"/>
          </a:xfrm>
          <a:prstGeom prst="roundRect">
            <a:avLst>
              <a:gd name="adj" fmla="val 7500"/>
            </a:avLst>
          </a:prstGeom>
          <a:solidFill>
            <a:srgbClr val="FBFAF7"/>
          </a:solidFill>
          <a:ln w="9525">
            <a:solidFill>
              <a:srgbClr val="D8D5C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7"/>
          <p:cNvSpPr/>
          <p:nvPr/>
        </p:nvSpPr>
        <p:spPr>
          <a:xfrm>
            <a:off x="4937760" y="1371600"/>
            <a:ext cx="457200" cy="457200"/>
          </a:xfrm>
          <a:prstGeom prst="ellipse">
            <a:avLst/>
          </a:prstGeom>
          <a:solidFill>
            <a:srgbClr val="2F6E8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204" y="1495044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371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YelpChi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956048" y="184708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45,954 nodes  ·  3 relations  ·  imbalance 5.9  ·  homophily φ 0.18–0.91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02920" y="2487168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evaluated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48640" y="2871216"/>
            <a:ext cx="256032" cy="256032"/>
          </a:xfrm>
          <a:prstGeom prst="ellipse">
            <a:avLst/>
          </a:prstGeom>
          <a:solidFill>
            <a:srgbClr val="E9F0F1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926080"/>
            <a:ext cx="146304" cy="1463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4400" y="281635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ablation (§5.7.1)  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vs. a plain mean aggregator, plus RNN/LSTM/Transformer backbones.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548640" y="3474720"/>
            <a:ext cx="256032" cy="256032"/>
          </a:xfrm>
          <a:prstGeom prst="ellipse">
            <a:avLst/>
          </a:prstGeom>
          <a:solidFill>
            <a:srgbClr val="E9F0F1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3529584"/>
            <a:ext cx="146304" cy="14630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4400" y="34198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ablation (§5.7.2)  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Isolating the contribution of Xh, Xr and the group encoding Xg.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48640" y="4078224"/>
            <a:ext cx="256032" cy="256032"/>
          </a:xfrm>
          <a:prstGeom prst="ellipse">
            <a:avLst/>
          </a:prstGeom>
          <a:solidFill>
            <a:srgbClr val="E9F0F1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4133088"/>
            <a:ext cx="146304" cy="14630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4400" y="402336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analysis (§5.7.3)  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to training-set % and observed-label %.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548640" y="46817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04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50" dirty="0"/>
          </a:p>
        </p:txBody>
      </p:sp>
      <p:pic>
        <p:nvPicPr>
          <p:cNvPr id="25" name="Image 5" descr="Per-relation edge homophily ratios for Amazon and YelpCh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697480"/>
            <a:ext cx="3886200" cy="158879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754880" y="433199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relations sit far below the 0.5 homophily line — the low-homophily regime GAGA targets.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aggregation drives the gains</a:t>
            </a:r>
            <a:endParaRPr lang="en-US" sz="2700" dirty="0"/>
          </a:p>
        </p:txBody>
      </p:sp>
      <p:pic>
        <p:nvPicPr>
          <p:cNvPr id="4" name="Image 0" descr="Ablation of learnable encodings, AUC on YelpChi, with vs without group aggreg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3246120" cy="22716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4331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ablation (YelpChi AUC). Full model in red; group encoding Xg is the strongest single encoding.</a:t>
            </a:r>
            <a:endParaRPr lang="en-US" sz="900" dirty="0"/>
          </a:p>
        </p:txBody>
      </p:sp>
      <p:pic>
        <p:nvPicPr>
          <p:cNvPr id="6" name="Image 1" descr="Sensitivity of AUC and AP to label rate and to training-set size on YelpCh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40" y="1234440"/>
            <a:ext cx="4526280" cy="190419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977640" y="3138639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analysis (YelpChi). GAGA stays strong as labels/data shrink.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4023360" y="3310128"/>
            <a:ext cx="237744" cy="237744"/>
          </a:xfrm>
          <a:prstGeom prst="ellipse">
            <a:avLst/>
          </a:prstGeom>
          <a:solidFill>
            <a:srgbClr val="C04A3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224" y="3364992"/>
            <a:ext cx="128016" cy="12801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389120" y="32461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 — best AUC 0.944 on YelpChi.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4023360" y="3767328"/>
            <a:ext cx="237744" cy="237744"/>
          </a:xfrm>
          <a:prstGeom prst="ellipse">
            <a:avLst/>
          </a:prstGeom>
          <a:solidFill>
            <a:srgbClr val="C04A3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224" y="3822192"/>
            <a:ext cx="128016" cy="12801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389120" y="37033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encoding Xg alone: +3.4 AUC pts over no encoding.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4023360" y="4224528"/>
            <a:ext cx="237744" cy="237744"/>
          </a:xfrm>
          <a:prstGeom prst="ellipse">
            <a:avLst/>
          </a:prstGeom>
          <a:solidFill>
            <a:srgbClr val="C04A3B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224" y="4279392"/>
            <a:ext cx="128016" cy="12801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4389120" y="41605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under scarcity — 0.878 AUC with only 10% labels.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CONCLUSIONS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achievement &amp; key takeaways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8138160" cy="841248"/>
          </a:xfrm>
          <a:prstGeom prst="roundRect">
            <a:avLst>
              <a:gd name="adj" fmla="val 9783"/>
            </a:avLst>
          </a:prstGeom>
          <a:solidFill>
            <a:srgbClr val="1C2B36"/>
          </a:solidFill>
          <a:ln w="9525">
            <a:solidFill>
              <a:srgbClr val="D8D5C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777240" y="1280160"/>
            <a:ext cx="7589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7E5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group aggregation costs  </a:t>
            </a:r>
            <a:r>
              <a:rPr lang="en-US" sz="1500" b="1" dirty="0">
                <a:solidFill>
                  <a:srgbClr val="F2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−3.8% AUC</a:t>
            </a:r>
            <a:r>
              <a:rPr lang="en-US" sz="1500" dirty="0">
                <a:solidFill>
                  <a:srgbClr val="E7E5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and  </a:t>
            </a:r>
            <a:r>
              <a:rPr lang="en-US" sz="1500" b="1" dirty="0">
                <a:solidFill>
                  <a:srgbClr val="F2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−12.9% AP</a:t>
            </a:r>
            <a:r>
              <a:rPr lang="en-US" sz="1500" dirty="0">
                <a:solidFill>
                  <a:srgbClr val="E7E5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YelpChi — the decisive component.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2624328" cy="2331720"/>
          </a:xfrm>
          <a:prstGeom prst="roundRect">
            <a:avLst>
              <a:gd name="adj" fmla="val 3529"/>
            </a:avLst>
          </a:prstGeom>
          <a:solidFill>
            <a:srgbClr val="FBFAF7"/>
          </a:solidFill>
          <a:ln w="9525">
            <a:solidFill>
              <a:srgbClr val="D8D5C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731520" y="2606040"/>
            <a:ext cx="548640" cy="548640"/>
          </a:xfrm>
          <a:prstGeom prst="ellipse">
            <a:avLst/>
          </a:prstGeom>
          <a:solidFill>
            <a:srgbClr val="C04A3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2754173"/>
            <a:ext cx="252374" cy="25237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2918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 achieved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731520" y="3703320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Reproduced GAGA's behavior; group aggregation is what closes the low-homophily gap.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255264" y="2377440"/>
            <a:ext cx="2624328" cy="2331720"/>
          </a:xfrm>
          <a:prstGeom prst="roundRect">
            <a:avLst>
              <a:gd name="adj" fmla="val 3529"/>
            </a:avLst>
          </a:prstGeom>
          <a:solidFill>
            <a:srgbClr val="FBFAF7"/>
          </a:solidFill>
          <a:ln w="9525">
            <a:solidFill>
              <a:srgbClr val="D8D5C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2" name="Shape 9"/>
          <p:cNvSpPr/>
          <p:nvPr/>
        </p:nvSpPr>
        <p:spPr>
          <a:xfrm>
            <a:off x="3483864" y="2606040"/>
            <a:ext cx="548640" cy="548640"/>
          </a:xfrm>
          <a:prstGeom prst="ellipse">
            <a:avLst/>
          </a:prstGeom>
          <a:solidFill>
            <a:srgbClr val="2F6E8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1997" y="2754173"/>
            <a:ext cx="252374" cy="25237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83864" y="32918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as features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3483864" y="3703320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(label) encoding gives the single largest encoding boost — labels belong in the feature space.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07608" y="2377440"/>
            <a:ext cx="2624328" cy="2331720"/>
          </a:xfrm>
          <a:prstGeom prst="roundRect">
            <a:avLst>
              <a:gd name="adj" fmla="val 3529"/>
            </a:avLst>
          </a:prstGeom>
          <a:solidFill>
            <a:srgbClr val="FBFAF7"/>
          </a:solidFill>
          <a:ln w="9525">
            <a:solidFill>
              <a:srgbClr val="D8D5C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7" name="Shape 13"/>
          <p:cNvSpPr/>
          <p:nvPr/>
        </p:nvSpPr>
        <p:spPr>
          <a:xfrm>
            <a:off x="6236208" y="2606040"/>
            <a:ext cx="548640" cy="548640"/>
          </a:xfrm>
          <a:prstGeom prst="ellipse">
            <a:avLst/>
          </a:prstGeom>
          <a:solidFill>
            <a:srgbClr val="C2913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4341" y="2754173"/>
            <a:ext cx="252374" cy="25237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36208" y="32918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&amp; efficient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6236208" y="3703320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even with few labels, and training throughput is independent of graph structure.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OUTLOOK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977640" cy="3383280"/>
          </a:xfrm>
          <a:prstGeom prst="roundRect">
            <a:avLst>
              <a:gd name="adj" fmla="val 2432"/>
            </a:avLst>
          </a:prstGeom>
          <a:solidFill>
            <a:srgbClr val="F6E8E5"/>
          </a:solidFill>
          <a:ln w="9525">
            <a:solidFill>
              <a:srgbClr val="D8D5C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758952" y="1572768"/>
            <a:ext cx="548640" cy="548640"/>
          </a:xfrm>
          <a:prstGeom prst="ellipse">
            <a:avLst/>
          </a:prstGeom>
          <a:solidFill>
            <a:srgbClr val="C04A3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1720901"/>
            <a:ext cx="252374" cy="2523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5727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" y="2432304"/>
            <a:ext cx="146304" cy="146304"/>
          </a:xfrm>
          <a:prstGeom prst="ellipse">
            <a:avLst/>
          </a:prstGeom>
          <a:solidFill>
            <a:srgbClr val="C04A3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1069848" y="23317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only (C = 2): groups are benign / fraud / masked.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95528" y="3145536"/>
            <a:ext cx="146304" cy="146304"/>
          </a:xfrm>
          <a:prstGeom prst="ellipse">
            <a:avLst/>
          </a:prstGeom>
          <a:solidFill>
            <a:srgbClr val="C04A3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8"/>
          <p:cNvSpPr/>
          <p:nvPr/>
        </p:nvSpPr>
        <p:spPr>
          <a:xfrm>
            <a:off x="1069848" y="304495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study omits baseline comparisons — scope is GAGA's internal components.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95528" y="3858768"/>
            <a:ext cx="146304" cy="146304"/>
          </a:xfrm>
          <a:prstGeom prst="ellipse">
            <a:avLst/>
          </a:prstGeom>
          <a:solidFill>
            <a:srgbClr val="C04A3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0"/>
          <p:cNvSpPr/>
          <p:nvPr/>
        </p:nvSpPr>
        <p:spPr>
          <a:xfrm>
            <a:off x="1069848" y="375818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norm placement is under-specified in the paper (pre- vs post-norm).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663440" y="1325880"/>
            <a:ext cx="3977640" cy="3383280"/>
          </a:xfrm>
          <a:prstGeom prst="roundRect">
            <a:avLst>
              <a:gd name="adj" fmla="val 2432"/>
            </a:avLst>
          </a:prstGeom>
          <a:solidFill>
            <a:srgbClr val="E9F0F1"/>
          </a:solidFill>
          <a:ln w="9525">
            <a:solidFill>
              <a:srgbClr val="D8D5C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2"/>
          <p:cNvSpPr/>
          <p:nvPr/>
        </p:nvSpPr>
        <p:spPr>
          <a:xfrm>
            <a:off x="4919472" y="1572768"/>
            <a:ext cx="548640" cy="548640"/>
          </a:xfrm>
          <a:prstGeom prst="ellipse">
            <a:avLst/>
          </a:prstGeom>
          <a:solidFill>
            <a:srgbClr val="2F6E80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7605" y="1720901"/>
            <a:ext cx="252374" cy="25237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23560" y="15727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4956048" y="2432304"/>
            <a:ext cx="146304" cy="146304"/>
          </a:xfrm>
          <a:prstGeom prst="ellipse">
            <a:avLst/>
          </a:prstGeom>
          <a:solidFill>
            <a:srgbClr val="2F6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5"/>
          <p:cNvSpPr/>
          <p:nvPr/>
        </p:nvSpPr>
        <p:spPr>
          <a:xfrm>
            <a:off x="5230368" y="23317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Generalize group aggregation to multi-class (C &gt; 2).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956048" y="3145536"/>
            <a:ext cx="146304" cy="146304"/>
          </a:xfrm>
          <a:prstGeom prst="ellipse">
            <a:avLst/>
          </a:prstGeom>
          <a:solidFill>
            <a:srgbClr val="2F6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7"/>
          <p:cNvSpPr/>
          <p:nvPr/>
        </p:nvSpPr>
        <p:spPr>
          <a:xfrm>
            <a:off x="5230368" y="304495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CARE-GNN, PC-GNN and H2-FDetector.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956048" y="3858768"/>
            <a:ext cx="146304" cy="146304"/>
          </a:xfrm>
          <a:prstGeom prst="ellipse">
            <a:avLst/>
          </a:prstGeom>
          <a:solidFill>
            <a:srgbClr val="2F6E8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19"/>
          <p:cNvSpPr/>
          <p:nvPr/>
        </p:nvSpPr>
        <p:spPr>
          <a:xfrm>
            <a:off x="5230368" y="375818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C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dynamic / streaming fraud graphs.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1443</TotalTime>
  <Words>595</Words>
  <Application>Microsoft Office PowerPoint</Application>
  <PresentationFormat>Presentazione su schermo (16:9)</PresentationFormat>
  <Paragraphs>81</Paragraphs>
  <Slides>7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GAGA — Group Aggregation Against Low Homophily</dc:title>
  <dc:subject>PptxGenJS Presentation</dc:subject>
  <dc:creator>GAGA study</dc:creator>
  <cp:lastModifiedBy>FRANCESCO NESE</cp:lastModifiedBy>
  <cp:revision>2</cp:revision>
  <dcterms:created xsi:type="dcterms:W3CDTF">2026-06-26T10:46:47Z</dcterms:created>
  <dcterms:modified xsi:type="dcterms:W3CDTF">2026-06-27T17:26:24Z</dcterms:modified>
</cp:coreProperties>
</file>